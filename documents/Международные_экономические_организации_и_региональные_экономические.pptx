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95" r:id="rId5"/>
    <p:sldId id="302" r:id="rId6"/>
    <p:sldId id="294" r:id="rId7"/>
    <p:sldId id="296" r:id="rId8"/>
    <p:sldId id="261" r:id="rId9"/>
    <p:sldId id="263" r:id="rId10"/>
    <p:sldId id="264" r:id="rId11"/>
    <p:sldId id="266" r:id="rId12"/>
    <p:sldId id="268" r:id="rId13"/>
    <p:sldId id="301" r:id="rId14"/>
    <p:sldId id="267" r:id="rId15"/>
    <p:sldId id="297" r:id="rId16"/>
    <p:sldId id="269" r:id="rId17"/>
    <p:sldId id="270" r:id="rId18"/>
    <p:sldId id="273" r:id="rId19"/>
    <p:sldId id="271" r:id="rId20"/>
    <p:sldId id="272" r:id="rId21"/>
    <p:sldId id="284" r:id="rId2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60"/>
  </p:normalViewPr>
  <p:slideViewPr>
    <p:cSldViewPr>
      <p:cViewPr varScale="1">
        <p:scale>
          <a:sx n="106" d="100"/>
          <a:sy n="106" d="100"/>
        </p:scale>
        <p:origin x="18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CF2E6E9-6E29-4E4D-B320-224AF03B9F8C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DFBE76-6668-4A1E-998A-F7167307E40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3705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8227D-9F86-434E-AB13-B0DE02AE4012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B3541-6C6B-4DC9-A228-9A4462B35E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14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8AE9F-F66F-47DF-8705-BDA404166BA5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712F8-62DF-45A6-8907-2625BA2A291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86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F33CE-80C5-45F2-B4A8-A413540F5A77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BC518-3AFA-4753-931C-459589B4161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3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50B07-C9FC-4EA2-983B-3E67FA2EA62B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42037-9F00-40F6-9176-B8ED18F458E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5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D0F59-D44B-4D01-A3F9-6624695E221D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5CD4E-EF44-44B4-9A66-532DCC9E3A9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47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A4244-D81E-4B98-95F6-67FF2B167012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B610F-03D7-4622-B837-473B27D8E4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22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9561F-26C3-419E-96C4-7B7D24CFA72C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8EAAD6-4B89-4D57-85B3-88FCD17EB9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44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42E89-0C89-45FC-BEBE-900F87FB79FE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6D9CB-7D09-4D2A-B961-BBE2286A40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90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1E4B6-1F0E-4127-805D-5E3A80CE9FF0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9BD7B-1961-41D3-968C-C497E3E3743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84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5E71B-9D77-403C-AEB4-AFCA3BA063AD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3B66A-EEC9-4F17-AC49-04E5D0097D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55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D30FB-987E-45A6-A766-5BDE4389DE84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F912F-F851-4ADA-91B2-A318D9DA499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8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8F69387-3739-47F3-897D-A6413A500E81}" type="datetimeFigureOut">
              <a:rPr lang="ru-RU"/>
              <a:pPr>
                <a:defRPr/>
              </a:pPr>
              <a:t>26.09.2024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690F23C-C097-4326-83BE-ADE79894FEC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ТЕМА : Международные экономические организации и региональные экономические интеграции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09675"/>
          </a:xfrm>
        </p:spPr>
        <p:txBody>
          <a:bodyPr/>
          <a:lstStyle/>
          <a:p>
            <a:pPr eaLnBrk="1" hangingPunct="1"/>
            <a:r>
              <a:rPr lang="ru-RU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ПЛАН: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75" y="1557338"/>
            <a:ext cx="8786813" cy="5086350"/>
          </a:xfrm>
        </p:spPr>
        <p:txBody>
          <a:bodyPr/>
          <a:lstStyle/>
          <a:p>
            <a:pPr marL="514350" indent="-514350" eaLnBrk="1" hangingPunct="1">
              <a:buFont typeface="Arial" charset="0"/>
              <a:buAutoNum type="arabicPeriod"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Понятие, основные признаки и условия развития интеграции</a:t>
            </a:r>
          </a:p>
          <a:p>
            <a:pPr marL="514350" indent="-514350"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Формы и этапы интеграционных процессов</a:t>
            </a:r>
          </a:p>
          <a:p>
            <a:pPr marL="514350" indent="-514350"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 Последствия и эффекты интеграции для экономического развития стран-участниц</a:t>
            </a:r>
          </a:p>
          <a:p>
            <a:pPr marL="514350" indent="-514350" eaLnBrk="1" hangingPunct="1">
              <a:buFont typeface="Arial" charset="0"/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375" y="2286000"/>
            <a:ext cx="7772400" cy="1857375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 Понятие, основные признаки  и УСЛОВИЯ развития интеграции</a:t>
            </a:r>
            <a:b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850" y="620713"/>
            <a:ext cx="8501063" cy="18494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Развитие и углубление МРТ </a:t>
            </a:r>
            <a:r>
              <a:rPr lang="ru-RU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делает объективно необходимым </a:t>
            </a: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создание глубоких и устойчивых взаимосвязей между национальными хозяйствами. 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ru-RU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ru-RU" sz="3000">
              <a:solidFill>
                <a:schemeClr val="bg1"/>
              </a:solidFill>
            </a:endParaRPr>
          </a:p>
          <a:p>
            <a:endParaRPr lang="uk-UA"/>
          </a:p>
        </p:txBody>
      </p:sp>
      <p:pic>
        <p:nvPicPr>
          <p:cNvPr id="5123" name="Picture 3" descr="57270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284538"/>
            <a:ext cx="770572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29025"/>
          </a:xfrm>
        </p:spPr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ru-RU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Международная экономическая интеграция </a:t>
            </a: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это процесс хозяйственного и политического объединения стран на основе развития глубоких устойчивых взаимосвязей и разделения труда между национальными хозяйствами, взаимодействия их экономик на различных уровнях и в различных формах.</a:t>
            </a:r>
            <a:r>
              <a:rPr lang="ru-RU" sz="3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88" y="285750"/>
            <a:ext cx="8501062" cy="62865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3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В настоящее время в мировой экономике действуют </a:t>
            </a:r>
            <a:r>
              <a:rPr lang="ru-RU" sz="30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две тенденции</a:t>
            </a:r>
            <a:r>
              <a:rPr lang="ru-RU" sz="3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Arial" charset="0"/>
              <a:buNone/>
            </a:pPr>
            <a:r>
              <a:rPr lang="ru-RU" sz="26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С одной стороны</a:t>
            </a:r>
            <a:r>
              <a:rPr lang="ru-RU" sz="2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усиливается </a:t>
            </a:r>
            <a:r>
              <a:rPr lang="ru-RU" sz="26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целостность мирового хозяйства</a:t>
            </a:r>
            <a:r>
              <a:rPr lang="ru-RU" sz="2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его глобализация, что вызвано развитием экономических связей между странами, либерализацией торговли, созданием современных систем коммуникации и информации, мировых технических стандартов и норм. </a:t>
            </a:r>
            <a:endParaRPr lang="en-US" sz="26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endParaRPr lang="ru-RU" sz="26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ru-RU" sz="26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С другой стороны</a:t>
            </a:r>
            <a:r>
              <a:rPr lang="ru-RU" sz="2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происходит </a:t>
            </a:r>
            <a:r>
              <a:rPr lang="ru-RU" sz="26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экономическое сближение и взаимодействие стран на региональном уровне</a:t>
            </a:r>
            <a:r>
              <a:rPr lang="ru-RU" sz="2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формируются крупные региональные интеграционные структуры - развивающиеся в направлении создания относительно самостоятельных центров мирового хозяйства.</a:t>
            </a:r>
            <a:endParaRPr lang="uk-UA" sz="26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Факторы, определяющие интеграционные процессы: </a:t>
            </a:r>
            <a:endParaRPr lang="uk-UA" sz="360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928813"/>
            <a:ext cx="8229600" cy="4197350"/>
          </a:xfrm>
        </p:spPr>
        <p:txBody>
          <a:bodyPr/>
          <a:lstStyle/>
          <a:p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глобализация хозяйственной жизни;</a:t>
            </a:r>
          </a:p>
          <a:p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углубление международного разделения труда;</a:t>
            </a:r>
          </a:p>
          <a:p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общемировая по своему характеру научно-техническая революция;</a:t>
            </a:r>
          </a:p>
          <a:p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повышение открытости национальных экономик.</a:t>
            </a:r>
            <a:endParaRPr lang="uk-UA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50" y="333375"/>
            <a:ext cx="8572500" cy="6167438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ru-RU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Признаки интеграции: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устранение ограничений;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взаимопроникновение производственных систем;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согласование законодательств и стандартов;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межгосударственные (наднациональные) органы;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единая валюта;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единая инфраструктура;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единая внешнеторговая политика;</a:t>
            </a:r>
          </a:p>
          <a:p>
            <a:pPr eaLnBrk="1" hangingPunct="1"/>
            <a:r>
              <a:rPr lang="ru-RU" sz="3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согласование внутренней политики (экономической, социальной и т.д.).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00063"/>
            <a:ext cx="9144000" cy="7143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8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Условия создания интеграционных группировок:</a:t>
            </a:r>
            <a:r>
              <a:rPr lang="ru-RU" sz="3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85875"/>
            <a:ext cx="9144000" cy="5214938"/>
          </a:xfrm>
        </p:spPr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Близость уровней экономического развития и степени рыночной зрелости экономик интегрирующихся стран. </a:t>
            </a:r>
            <a:endParaRPr lang="ru-RU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Географическая близость интегрирующихся стран, наличие общей границы и исторически сложившихся экономических связей. </a:t>
            </a:r>
            <a:endParaRPr lang="ru-RU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 Общность экономических и иных проблем, стоящих перед странами в области развития, финансирования, регулирования экономики.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ru-RU" dirty="0">
              <a:solidFill>
                <a:schemeClr val="bg1"/>
              </a:solidFill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endParaRPr lang="ru-RU" dirty="0">
              <a:solidFill>
                <a:schemeClr val="bg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50"/>
            <a:ext cx="8472488" cy="6072188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Демонстрационный эффект. </a:t>
            </a:r>
            <a:r>
              <a:rPr lang="ru-RU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В странах, создавших интеграционные объединения, обычно происходят положительные сдвиги (ускорение темпов экономического роста, снижение инфляции, рост занятости и т. д.), что оказывает определенное психологическое воздействие на другие страны.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5.«Эффект домино». </a:t>
            </a:r>
            <a:r>
              <a:rPr lang="ru-RU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После того, как большинство стран того или иного региона стали членами интеграционного объединения, остальные страны, оставшиеся за его пределами, испытывают некоторые трудности, связанные с переориентацией экономических связей стран, входящих в группировку, друг на друга.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</p:spPr>
        <p:txBody>
          <a:bodyPr/>
          <a:lstStyle/>
          <a:p>
            <a:pPr eaLnBrk="1" hangingPunct="1"/>
            <a:r>
              <a:rPr lang="ru-RU" sz="36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Основные цели интеграции 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2875" y="1285875"/>
            <a:ext cx="8858250" cy="5357813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1.Использование преимуществ экономики масштаба. </a:t>
            </a:r>
          </a:p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2.Создание благоприятной внешнеполитической среды. </a:t>
            </a:r>
          </a:p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3.Решение задач торговой политики. </a:t>
            </a:r>
          </a:p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4.Содействие структурной перестройке экономики. </a:t>
            </a:r>
          </a:p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5.Поддержка молодых отраслей национальной промышленности.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38" y="2571750"/>
            <a:ext cx="7772400" cy="1362075"/>
          </a:xfrm>
        </p:spPr>
        <p:txBody>
          <a:bodyPr rtlCol="0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Формы и этапы интеграционных процессов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autogen_ebook_id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25538"/>
            <a:ext cx="7272338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26" name="Group 38"/>
          <p:cNvGraphicFramePr>
            <a:graphicFrameLocks noGrp="1"/>
          </p:cNvGraphicFramePr>
          <p:nvPr/>
        </p:nvGraphicFramePr>
        <p:xfrm>
          <a:off x="214313" y="1341438"/>
          <a:ext cx="8715376" cy="5170489"/>
        </p:xfrm>
        <a:graphic>
          <a:graphicData uri="http://schemas.openxmlformats.org/drawingml/2006/table">
            <a:tbl>
              <a:tblPr/>
              <a:tblGrid>
                <a:gridCol w="2782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7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Этапы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Сущность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Примеры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2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 Зона свободной торговли	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Отмена таможенных пошлин в торговле между странами – участниками интеграционной группировки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ЕЭС в 1958–1968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ЕАСТ с 1960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НАФТА с 1988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МЕРКОСУР с 1991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 Таможенный союз	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Унификация таможенных пошлин в отношении третьих стран	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ЕЭС в 1968–1986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МЕРКОСУР с 1996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3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 Общий рынок	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Либерализация движения ресурсов (капиталов, рабочей силы и т.д.) между странами-участниками интеграционной группировки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ЕЭС в 1987–1992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3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 Экономический союз	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Координация и унификация внутриэкономической политики стран-участников, включая переход к единой валюте	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 с 1993 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5. Политический союз	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Проведение единой внешней политики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Пока примеров нет</a:t>
                      </a:r>
                    </a:p>
                  </a:txBody>
                  <a:tcPr marL="48381" marR="483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92" name="Rectangle 1"/>
          <p:cNvSpPr>
            <a:spLocks noChangeArrowheads="1"/>
          </p:cNvSpPr>
          <p:nvPr/>
        </p:nvSpPr>
        <p:spPr bwMode="auto">
          <a:xfrm>
            <a:off x="0" y="333375"/>
            <a:ext cx="93583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Таблица 1. ЭТАПЫ РАЗВИТИЯ РЕГИОНАЛЬНОЙ ЭКОНОМИЧЕСКОЙ ИНТЕГРАЦИИ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50" y="214313"/>
            <a:ext cx="8858250" cy="1203325"/>
          </a:xfrm>
        </p:spPr>
        <p:txBody>
          <a:bodyPr/>
          <a:lstStyle/>
          <a:p>
            <a:r>
              <a:rPr lang="ru-RU" sz="34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Основные модели </a:t>
            </a:r>
            <a:br>
              <a:rPr lang="ru-RU" sz="34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4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в мировых интеграционных процессах:</a:t>
            </a:r>
            <a:endParaRPr lang="uk-UA" sz="3400" b="1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50" y="1428750"/>
            <a:ext cx="8643938" cy="5286375"/>
          </a:xfrm>
        </p:spPr>
        <p:txBody>
          <a:bodyPr/>
          <a:lstStyle/>
          <a:p>
            <a:r>
              <a:rPr lang="ru-RU" sz="28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модели политико-экономической интеграции </a:t>
            </a:r>
            <a:r>
              <a:rPr lang="ru-RU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(с учетом социальных аспектов): ЕС, Андская группа, Ассоциация государств Юго-Восточной Азии (АСЕАН) и др.;</a:t>
            </a:r>
          </a:p>
          <a:p>
            <a:r>
              <a:rPr lang="ru-RU" sz="28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модели торгово-экономического сотрудничества</a:t>
            </a:r>
            <a:r>
              <a:rPr lang="ru-RU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Европейская ассоциация свободной торговли (ЕАСТ), Североамериканская интеграция (НАФТА), Организация стран-экспортеров нефти (ОПЭК) и др.;</a:t>
            </a:r>
          </a:p>
          <a:p>
            <a:r>
              <a:rPr lang="ru-RU" sz="28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модели политических союзов и военных блоков</a:t>
            </a:r>
            <a:r>
              <a:rPr lang="ru-RU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Организация североатлантического договора (НАТО), Организация Африканского единства (ОАЕ) и др.</a:t>
            </a:r>
            <a:endParaRPr lang="uk-UA" sz="280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313" y="1"/>
            <a:ext cx="8929687" cy="6858000"/>
          </a:xfrm>
        </p:spPr>
        <p:txBody>
          <a:bodyPr rtlCol="0">
            <a:normAutofit fontScale="5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44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Примеры международных интеграционных объединений: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ru-RU" sz="38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4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Европейский Союз (ЕС).</a:t>
            </a: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Создан в 1992 году. В настоящее время в ЕС входит 28 государств: Австрия, Бельгия, Болгария, Великобритания, Венгрия, Германия, Греция, Дания, Ирландия, Испания, Италия, Кипр, Латвия, Литва, Люксембург, Мальта, Нидерланды, Польша, Португалия, Румыния, Словакия, Словения, Финляндия, Франция, Чехия, Хорватия, Швеция и Эстония.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sz="4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Европейская Ассоциация свободной торговли </a:t>
            </a: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– ЕАСТ. Создана в 1960 году. Входят Исландия, Лихтенштейн, Норвегия, Швейцария.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4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Ассоциация государств Юго-Восточной Азии </a:t>
            </a: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– АСЕАН. Создана в 1967 году. В нее входят Индонезия, Малайзия, Сингапур, Таиланд, Филиппины, Бруней. С июля 1997 года приняты Бирма, Лаос и Камбоджа.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4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МЕРКОСУР</a:t>
            </a: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– общий рынок стран Южного конуса, создан в 1991 году странами Южной Америки. В эту организацию вошли Аргентина, Бразилия, Парагвай, Уругвай.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43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Североамериканская ассоциация свободной торговли </a:t>
            </a:r>
            <a:r>
              <a:rPr lang="ru-RU" sz="43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– НАФТА. Входят США, Мексика, Канада. Создана в 1992 году.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313" y="1857375"/>
            <a:ext cx="8715375" cy="3286125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3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 Последствия и </a:t>
            </a:r>
            <a:r>
              <a:rPr lang="ru-RU" sz="3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эффектЫ</a:t>
            </a:r>
            <a:r>
              <a:rPr lang="ru-RU" sz="3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интеграции для экономического развития стран-участниц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Эффекты интеграции: 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sz="30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статические -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0" y="2214563"/>
            <a:ext cx="4643438" cy="4357687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</a:rPr>
              <a:t>     </a:t>
            </a: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определяют экономические последствия международной интеграции, полученные </a:t>
            </a:r>
            <a:r>
              <a:rPr lang="ru-RU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непосредственно </a:t>
            </a: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после осуществления мероприятий по консолидации экономик двух или нескольких стран. </a:t>
            </a:r>
          </a:p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eaLnBrk="1" hangingPunct="1">
              <a:buFont typeface="Arial" charset="0"/>
              <a:buNone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ru-RU" sz="30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динамические -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500563" y="2174875"/>
            <a:ext cx="4429125" cy="425450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ru-RU">
                <a:solidFill>
                  <a:schemeClr val="bg1"/>
                </a:solidFill>
              </a:rPr>
              <a:t>     </a:t>
            </a: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оценивают экономические последствия международной интеграции </a:t>
            </a:r>
            <a:r>
              <a:rPr lang="ru-RU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на перспективу</a:t>
            </a:r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проявляющиеся на более поздних стадиях функционирования таможенного союза.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85813"/>
            <a:ext cx="8401050" cy="534035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ru-RU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Преимущества экономической интеграции: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увеличение размеров рынка - проявление эффекта масштаба производства;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возрастает конкуренция между странами;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происходит обеспечение лучших условий торговли;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расширение торговли параллельно с улучшением инфраструктуры;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распространение новейших технологий.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642938"/>
            <a:ext cx="8229600" cy="5786437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ru-RU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Отрицательные последствия экономической интеграции: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происходит отток ресурсов (факторов производства) из более отсталых стран в пользу более сильных государств-учасников группировки;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олигопольный сговор между ТНК стран-участниц, который способствует повышению цен на товары;</a:t>
            </a:r>
          </a:p>
          <a:p>
            <a:pPr eaLnBrk="1" hangingPunct="1"/>
            <a:r>
              <a:rPr lang="ru-RU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эффект потерь от увеличения масштабов производства.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Содержимое 2"/>
          <p:cNvSpPr>
            <a:spLocks noGrp="1"/>
          </p:cNvSpPr>
          <p:nvPr>
            <p:ph idx="1"/>
          </p:nvPr>
        </p:nvSpPr>
        <p:spPr>
          <a:xfrm>
            <a:off x="214313" y="0"/>
            <a:ext cx="8786812" cy="657225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ru-RU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Вопросы к семинару :</a:t>
            </a:r>
          </a:p>
          <a:p>
            <a:pPr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 Сущность, предпосылки, цели международной экономической интеграции</a:t>
            </a:r>
          </a:p>
          <a:p>
            <a:pPr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Формы и этапы международной экономической интеграции</a:t>
            </a:r>
          </a:p>
          <a:p>
            <a:pPr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 Экономические эффекты и последствия интеграции для стран-участниц</a:t>
            </a:r>
          </a:p>
          <a:p>
            <a:pPr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Современные интеграционные группировки</a:t>
            </a:r>
          </a:p>
          <a:p>
            <a:pPr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Теории международной экономической интеграции</a:t>
            </a:r>
          </a:p>
          <a:p>
            <a:pPr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Европейский союз</a:t>
            </a:r>
          </a:p>
          <a:p>
            <a:pPr eaLnBrk="1" hangingPunct="1">
              <a:buFont typeface="Arial" charset="0"/>
              <a:buNone/>
            </a:pPr>
            <a:r>
              <a:rPr lang="ru-RU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Украина в интеграционных процессах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1012</Words>
  <Application>Microsoft Office PowerPoint</Application>
  <PresentationFormat>Экран (4:3)</PresentationFormat>
  <Paragraphs>100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Тема Office</vt:lpstr>
      <vt:lpstr>ТЕМА : Международные экономические организации и региональные экономические интеграции </vt:lpstr>
      <vt:lpstr>ПЛАН:</vt:lpstr>
      <vt:lpstr>1. Понятие, основные признаки  и УСЛОВИЯ развития интеграции </vt:lpstr>
      <vt:lpstr>Презентация PowerPoint</vt:lpstr>
      <vt:lpstr>Презентация PowerPoint</vt:lpstr>
      <vt:lpstr>Презентация PowerPoint</vt:lpstr>
      <vt:lpstr>Факторы, определяющие интеграционные процессы: </vt:lpstr>
      <vt:lpstr>Презентация PowerPoint</vt:lpstr>
      <vt:lpstr>Условия создания интеграционных группировок:  </vt:lpstr>
      <vt:lpstr>Презентация PowerPoint</vt:lpstr>
      <vt:lpstr>Основные цели интеграции :</vt:lpstr>
      <vt:lpstr>2. Формы и этапы интеграционных процессов</vt:lpstr>
      <vt:lpstr>Презентация PowerPoint</vt:lpstr>
      <vt:lpstr>Презентация PowerPoint</vt:lpstr>
      <vt:lpstr>Основные модели  в мировых интеграционных процессах:</vt:lpstr>
      <vt:lpstr>Презентация PowerPoint</vt:lpstr>
      <vt:lpstr>3. Последствия и эффектЫ интеграции для экономического развития стран-участниц </vt:lpstr>
      <vt:lpstr>Эффекты интеграции: 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8: МЕЖДУНАРОДНАЯ ЭКОНОМИЧЕСКАЯ ИНТЕГРАЦИЯ</dc:title>
  <dc:creator>Admin</dc:creator>
  <cp:lastModifiedBy>Bagdat Akubayeva</cp:lastModifiedBy>
  <cp:revision>69</cp:revision>
  <dcterms:created xsi:type="dcterms:W3CDTF">2010-12-04T13:38:06Z</dcterms:created>
  <dcterms:modified xsi:type="dcterms:W3CDTF">2024-09-26T04:29:09Z</dcterms:modified>
</cp:coreProperties>
</file>